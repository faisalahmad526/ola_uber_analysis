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FF1BF8D-172C-41EF-87CE-564028B2AAD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41-4AD1-854D-A9C3C910F1C1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41-4AD1-854D-A9C3C910F1C1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41-4AD1-854D-A9C3C910F1C1}"/>
              </c:ext>
            </c:extLst>
          </c:dPt>
          <c:dPt>
            <c:idx val="3"/>
            <c:bubble3D val="0"/>
            <c:spPr>
              <a:solidFill>
                <a:srgbClr val="5D6D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41-4AD1-854D-A9C3C910F1C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41-4AD1-854D-A9C3C910F1C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41-4AD1-854D-A9C3C910F1C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41-4AD1-854D-A9C3C910F1C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41-4AD1-854D-A9C3C910F1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Successful</c:v>
                </c:pt>
                <c:pt idx="1">
                  <c:v>Cancelled by Customer</c:v>
                </c:pt>
                <c:pt idx="2">
                  <c:v>Cancelled by Driver</c:v>
                </c:pt>
                <c:pt idx="3">
                  <c:v>Incomplete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18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41-4AD1-854D-A9C3C910F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EBF5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D1B2A"/>
                </a:solidFill>
                <a:latin typeface="Arial"/>
              </a:rPr>
              <a:t>Avg. Ride Distance by Vehicle Type (km)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 Distance (km)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9D-4A2A-A23A-2680F8B19D43}"/>
              </c:ext>
            </c:extLst>
          </c:dPt>
          <c:dPt>
            <c:idx val="1"/>
            <c:invertIfNegative val="0"/>
            <c:bubble3D val="0"/>
            <c:spPr>
              <a:solidFill>
                <a:srgbClr val="148F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9D-4A2A-A23A-2680F8B19D43}"/>
              </c:ext>
            </c:extLst>
          </c:dPt>
          <c:dPt>
            <c:idx val="2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9D-4A2A-A23A-2680F8B19D43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9D-4A2A-A23A-2680F8B19D43}"/>
              </c:ext>
            </c:extLst>
          </c:dPt>
          <c:dPt>
            <c:idx val="4"/>
            <c:invertIfNegative val="0"/>
            <c:bubble3D val="0"/>
            <c:spPr>
              <a:solidFill>
                <a:srgbClr val="5D6D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9D-4A2A-A23A-2680F8B19D4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Prime Sedan</c:v>
                </c:pt>
                <c:pt idx="1">
                  <c:v>Prime SUV</c:v>
                </c:pt>
                <c:pt idx="2">
                  <c:v>Prime Plus</c:v>
                </c:pt>
                <c:pt idx="3">
                  <c:v>Mini</c:v>
                </c:pt>
                <c:pt idx="4">
                  <c:v>Auto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16.2</c:v>
                </c:pt>
                <c:pt idx="1">
                  <c:v>18.7</c:v>
                </c:pt>
                <c:pt idx="2">
                  <c:v>14.5</c:v>
                </c:pt>
                <c:pt idx="3">
                  <c:v>11.3</c:v>
                </c:pt>
                <c:pt idx="4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E9D-4A2A-A23A-2680F8B19D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2A"/>
                </a:solidFill>
                <a:latin typeface="Arial"/>
              </a:rPr>
              <a:t>Payment Method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78-4A75-A37D-FAD129E0686E}"/>
              </c:ext>
            </c:extLst>
          </c:dPt>
          <c:dPt>
            <c:idx val="1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78-4A75-A37D-FAD129E0686E}"/>
              </c:ext>
            </c:extLst>
          </c:dPt>
          <c:dPt>
            <c:idx val="2"/>
            <c:bubble3D val="0"/>
            <c:spPr>
              <a:solidFill>
                <a:srgbClr val="148F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78-4A75-A37D-FAD129E0686E}"/>
              </c:ext>
            </c:extLst>
          </c:dPt>
          <c:dPt>
            <c:idx val="3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78-4A75-A37D-FAD129E0686E}"/>
              </c:ext>
            </c:extLst>
          </c:dPt>
          <c:dPt>
            <c:idx val="4"/>
            <c:bubble3D val="0"/>
            <c:spPr>
              <a:solidFill>
                <a:srgbClr val="5D6D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F78-4A75-A37D-FAD129E0686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78-4A75-A37D-FAD129E0686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78-4A75-A37D-FAD129E0686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78-4A75-A37D-FAD129E0686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78-4A75-A37D-FAD129E0686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F78-4A75-A37D-FAD129E0686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Cash</c:v>
                </c:pt>
                <c:pt idx="2">
                  <c:v>Credit Card</c:v>
                </c:pt>
                <c:pt idx="3">
                  <c:v>Debit Card</c:v>
                </c:pt>
                <c:pt idx="4">
                  <c:v>Wallet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27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F78-4A75-A37D-FAD129E068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EBF5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2520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162740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1B3A5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74320"/>
            <a:ext cx="1188720" cy="502920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411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OLA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6733" y="901598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100" dirty="0">
                <a:solidFill>
                  <a:srgbClr val="FFFFFF"/>
                </a:solidFill>
              </a:rPr>
              <a:t>Data Analyst Project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8973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39C12"/>
                </a:solidFill>
              </a:rPr>
              <a:t>Ola Uber Analysis with SQL &amp; Power BI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2336" y="2651760"/>
            <a:ext cx="5029200" cy="4572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2892247"/>
            <a:ext cx="7315200" cy="14895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CCE3"/>
                </a:solidFill>
              </a:rPr>
              <a:t>100,000 Booking Records  </a:t>
            </a:r>
            <a:r>
              <a:rPr lang="en-US" sz="1400" dirty="0">
                <a:solidFill>
                  <a:srgbClr val="A9CCE3"/>
                </a:solidFill>
              </a:rPr>
              <a:t>| SQL + Power BI | July Dataset</a:t>
            </a:r>
          </a:p>
          <a:p>
            <a:pPr marL="0" indent="0">
              <a:buNone/>
            </a:pPr>
            <a:endParaRPr lang="en-US" sz="1400" dirty="0">
              <a:solidFill>
                <a:srgbClr val="A9CCE3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Faisal Ahmad</a:t>
            </a: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1031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</a:rPr>
              <a:t>Analyzing ride-booking data from a simulated ride-hailing platform to derive actionable business insights on customer behavior, driver performance, revenue streams, and operational metrics.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20574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2057400"/>
            <a:ext cx="2743200" cy="548640"/>
          </a:xfrm>
          <a:prstGeom prst="rect">
            <a:avLst/>
          </a:prstGeom>
          <a:solidFill>
            <a:srgbClr val="1B4F7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12140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 Insights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Identify top customers, booking patterns &amp; rating trends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46120" y="20574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2057400"/>
            <a:ext cx="2743200" cy="548640"/>
          </a:xfrm>
          <a:prstGeom prst="rect">
            <a:avLst/>
          </a:prstGeom>
          <a:solidFill>
            <a:srgbClr val="148F7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12140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9476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Driver Performance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38328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Analyze cancellations, ratings &amp; vehicle-type metrics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20574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72200" y="2057400"/>
            <a:ext cx="2743200" cy="548640"/>
          </a:xfrm>
          <a:prstGeom prst="rect">
            <a:avLst/>
          </a:prstGeom>
          <a:solidFill>
            <a:srgbClr val="1A7A4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12140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Revenue Optimization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0936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Track payment methods, booking values &amp; UPI trends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Description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1005840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100K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Booking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828800" cy="1005840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12+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Key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828800" cy="1005840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July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Dataset Month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828800" cy="1005840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Vehicle Types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4884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📅  Date / Time – Booking timestamp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🆔  Booking ID – Unique ride identifier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✅  Booking Status – Success / Canceled / Incomplete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👤  Customer ID – Unique customer identifier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🚗  Vehicle Type – Sedan, SUV, Mini, etc.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📍  Pickup &amp; Drop Location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📏  Ride Distance – Total km per ride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💳  Payment Method – UPI / Cash / Card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⭐  Driver Ratings – Given by customers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⭐  Customer Ratings – Given by drivers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💰  Booking Value – Total cost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❌  Cancellation Details – Reason &amp; initiator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148840"/>
            <a:ext cx="0" cy="274320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Tools &amp;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109728" cy="1645920"/>
          </a:xfrm>
          <a:prstGeom prst="rect">
            <a:avLst/>
          </a:prstGeom>
          <a:solidFill>
            <a:srgbClr val="1B4F7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SQL Server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Primary analysis layer — 10 analytical views created to extract insights from 100K booking rows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92040" y="11430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143000"/>
            <a:ext cx="109728" cy="1645920"/>
          </a:xfrm>
          <a:prstGeom prst="rect">
            <a:avLst/>
          </a:prstGeom>
          <a:solidFill>
            <a:srgbClr val="148F7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280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Power BI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0644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9 interactive dashboards: time-series, pie charts, bar charts, scatter plots &amp; box plots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63240"/>
            <a:ext cx="109728" cy="164592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375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Data Modeling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Structured queries using CREATE VIEW to encapsulate reusable analysis logic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92040" y="30632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063240"/>
            <a:ext cx="109728" cy="1645920"/>
          </a:xfrm>
          <a:prstGeom prst="rect">
            <a:avLst/>
          </a:prstGeom>
          <a:solidFill>
            <a:srgbClr val="1A7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33756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DAX &amp; M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80644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Power BI data transformations, calculated measures &amp; custom KPI indicators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SQL Analysis — 10 Analytical Views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75488" cy="65836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107899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Successful Bookings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75488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21808" y="107899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Avg. Ride Distance by Vehicle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83080"/>
            <a:ext cx="475488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830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185623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Cancelled Rides by Customers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783080"/>
            <a:ext cx="475488" cy="6583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7830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21808" y="185623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Top 5 Customers by Ride Count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60320"/>
            <a:ext cx="475488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56032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" y="263347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Driver Cancellations (Car/Personal)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560320"/>
            <a:ext cx="475488" cy="65836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56032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263347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Max &amp; Min Driver Rating (Prime Sedan)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337560"/>
            <a:ext cx="475488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3375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6968" y="341071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UPI Payment Rides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33756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337560"/>
            <a:ext cx="475488" cy="65836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3375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21808" y="341071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Avg. Customer Rating by Vehicle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11480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114800"/>
            <a:ext cx="475488" cy="65836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411480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6968" y="418795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Total Revenue — Successful Rides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4114800"/>
            <a:ext cx="4069080" cy="658368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114800"/>
            <a:ext cx="475488" cy="658368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11480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21808" y="418795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Incomplete Rides + Reason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Booking Status Analysis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4389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18872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3258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234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A4A"/>
                </a:solidFill>
              </a:rPr>
              <a:t>~62%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715000" y="15910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Rides completed successfully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0" y="214884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2860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5000" y="2194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</a:rPr>
              <a:t>~18%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715000" y="25511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Cancelled by customers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0" y="310896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2461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15000" y="3154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</a:rPr>
              <a:t>~11%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5715000" y="35112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Cancelled by drivers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029200" y="406908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420624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15000" y="4114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D6D7E"/>
                </a:solidFill>
              </a:rPr>
              <a:t>~9%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5715000" y="44714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Incomplete rides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Vehicle Type Insights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005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Driver Rating Highlights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943600" y="1600200"/>
            <a:ext cx="2926080" cy="73152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600200"/>
            <a:ext cx="91440" cy="7315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6367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Prime Sedan Max Rating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196596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5.0 ⭐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2468880"/>
            <a:ext cx="2926080" cy="73152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468880"/>
            <a:ext cx="9144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50545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Prime Sedan Min Rating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28346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3.2 ⭐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337560"/>
            <a:ext cx="2926080" cy="73152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337560"/>
            <a:ext cx="91440" cy="73152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337413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Best Avg Customer Rating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37033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Prime SUV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4206240"/>
            <a:ext cx="2926080" cy="73152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4206240"/>
            <a:ext cx="91440" cy="7315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424281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Lowest Avg Customer Rating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4572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Auto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Revenue &amp; Payment Analysis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4206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8016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216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4A"/>
                </a:solidFill>
              </a:rPr>
              <a:t>~₹8.5 Cr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85216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Total Revenue (Successful Rides)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937760" y="24688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65176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5216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</a:rPr>
              <a:t>38%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85216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Rides paid via UPI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37760" y="38404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402336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5216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</a:rPr>
              <a:t>Top 5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585216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Customers account for 12% of value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Power BI Dashboards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384048"/>
          </a:xfrm>
          <a:prstGeom prst="rect">
            <a:avLst/>
          </a:prstGeom>
          <a:solidFill>
            <a:srgbClr val="1B4F7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8813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088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#1  Ride Volume Over Time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51560"/>
            <a:ext cx="2743200" cy="384048"/>
          </a:xfrm>
          <a:prstGeom prst="rect">
            <a:avLst/>
          </a:prstGeom>
          <a:solidFill>
            <a:srgbClr val="148F7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08813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1088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#2  Booking Status Breakdown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3756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051560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051560"/>
            <a:ext cx="2743200" cy="384048"/>
          </a:xfrm>
          <a:prstGeom prst="rect">
            <a:avLst/>
          </a:prstGeom>
          <a:solidFill>
            <a:srgbClr val="1A7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8813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1088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#3  Top 5 Vehicles by Distance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26364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2350008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350008"/>
            <a:ext cx="2743200" cy="384048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38658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2386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#4  Revenue by Payment Method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11480" y="2807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350008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350008"/>
            <a:ext cx="2743200" cy="384048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386584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03320" y="2386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#5  Cancellation Reasons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337560" y="2807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72200" y="2350008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2350008"/>
            <a:ext cx="2743200" cy="384048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2386584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29400" y="2386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#6  Top 5 Customers by Value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263640" y="2807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20040" y="3648456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20040" y="3648456"/>
            <a:ext cx="2743200" cy="384048"/>
          </a:xfrm>
          <a:prstGeom prst="rect">
            <a:avLst/>
          </a:prstGeom>
          <a:solidFill>
            <a:srgbClr val="148F77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3685032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7240" y="3685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#7  Ride Distance Distribution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11480" y="41056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246120" y="3648456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246120" y="3648456"/>
            <a:ext cx="2743200" cy="384048"/>
          </a:xfrm>
          <a:prstGeom prst="rect">
            <a:avLst/>
          </a:prstGeom>
          <a:solidFill>
            <a:srgbClr val="1A7A4A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3685032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703320" y="3685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#8  Driver Rating Distribution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3337560" y="41056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172200" y="3648456"/>
            <a:ext cx="2743200" cy="1143000"/>
          </a:xfrm>
          <a:prstGeom prst="rect">
            <a:avLst/>
          </a:prstGeom>
          <a:solidFill>
            <a:srgbClr val="F4F6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172200" y="3648456"/>
            <a:ext cx="2743200" cy="384048"/>
          </a:xfrm>
          <a:prstGeom prst="rect">
            <a:avLst/>
          </a:prstGeom>
          <a:solidFill>
            <a:srgbClr val="1B4F72"/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3685032"/>
            <a:ext cx="320040" cy="32004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629400" y="3685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#9  Customer vs. Driver Ratings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6263640" y="41056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Power BI Visual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62740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6274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Insights &amp; Conclusion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15568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</a:rPr>
              <a:t>62% success rate — strong booking completion, with room to reduce 29% combined cancellations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764792"/>
            <a:ext cx="8229600" cy="0"/>
          </a:xfrm>
          <a:prstGeom prst="line">
            <a:avLst/>
          </a:prstGeom>
          <a:noFill/>
          <a:ln w="6350">
            <a:solidFill>
              <a:srgbClr val="1B3A5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883664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</a:rPr>
              <a:t>Prime SUV leads in avg. ride distance (18.7 km); Auto serves short-haul city trips (8.4 km)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532888"/>
            <a:ext cx="8229600" cy="0"/>
          </a:xfrm>
          <a:prstGeom prst="line">
            <a:avLst/>
          </a:prstGeom>
          <a:noFill/>
          <a:ln w="6350">
            <a:solidFill>
              <a:srgbClr val="1B3A5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06624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65176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</a:rPr>
              <a:t>UPI is the #1 payment method (38%); strong signal for digital-first customer segment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3300984"/>
            <a:ext cx="8229600" cy="0"/>
          </a:xfrm>
          <a:prstGeom prst="line">
            <a:avLst/>
          </a:prstGeom>
          <a:noFill/>
          <a:ln w="6350">
            <a:solidFill>
              <a:srgbClr val="1B3A56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7472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419856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</a:rPr>
              <a:t>Prime Sedan driver ratings range from 3.2–5.0 — consistency improvement opportunity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4069080"/>
            <a:ext cx="8229600" cy="0"/>
          </a:xfrm>
          <a:prstGeom prst="line">
            <a:avLst/>
          </a:prstGeom>
          <a:noFill/>
          <a:ln w="6350">
            <a:solidFill>
              <a:srgbClr val="1B3A56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42816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418795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</a:rPr>
              <a:t>Top 5 customers contribute ~12% of total booking value — loyalty programs can drive growth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OLA Data Analyst Project  |  SQL + Power BI  |  100K Rides Analyzed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A987B-B3A1-4144-867D-BE59BD1B8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206" y="-182423"/>
            <a:ext cx="9195206" cy="550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1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622</Words>
  <Application>Microsoft Office PowerPoint</Application>
  <PresentationFormat>On-screen Show (16:9)</PresentationFormat>
  <Paragraphs>138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OLA Data Analyst Project</dc:title>
  <dc:subject>PptxGenJS Presentation</dc:subject>
  <dc:creator>PptxGenJS</dc:creator>
  <cp:lastModifiedBy>Faisal Ahmad</cp:lastModifiedBy>
  <cp:revision>3</cp:revision>
  <dcterms:created xsi:type="dcterms:W3CDTF">2026-05-12T08:21:30Z</dcterms:created>
  <dcterms:modified xsi:type="dcterms:W3CDTF">2026-06-16T14:15:53Z</dcterms:modified>
</cp:coreProperties>
</file>